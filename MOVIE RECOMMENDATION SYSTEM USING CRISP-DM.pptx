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02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3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57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1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37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38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5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1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1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8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638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721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66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636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478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765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6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5EEAD26-54A6-48FB-ABD4-9ABEFEE601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29E23A-F939-4932-8D75-4109AE7E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2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C697-1915-5EDF-7326-4625CE5624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MOVIE RECOMMENDATION SYSTEM USING CRISP-DM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E1F3-EF4B-DCD1-429B-B1E06775C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PATRICK NJOROGE</a:t>
            </a:r>
          </a:p>
          <a:p>
            <a:endParaRPr lang="en-US" dirty="0"/>
          </a:p>
          <a:p>
            <a:r>
              <a:rPr lang="en-US" dirty="0"/>
              <a:t>14</a:t>
            </a:r>
            <a:r>
              <a:rPr lang="en-US" baseline="30000" dirty="0"/>
              <a:t>TH</a:t>
            </a:r>
            <a:r>
              <a:rPr lang="en-US" dirty="0"/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11244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3FB6-2E1F-81DE-EB03-0F88E4CF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b="1" dirty="0"/>
              <a:t>BUSINESS UNDERSTANDING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8C92-B4E6-A6FA-3778-F2B773453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77886"/>
            <a:ext cx="9056913" cy="319798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b="1" dirty="0"/>
              <a:t>Problem Statement</a:t>
            </a:r>
          </a:p>
          <a:p>
            <a:pPr marL="0" indent="0">
              <a:buNone/>
            </a:pPr>
            <a:r>
              <a:rPr lang="en-US" sz="4400" dirty="0"/>
              <a:t>Streaming platforms such as Netflix, Disney+, Amazon prime among others face a challenge: Users are overwhelmed by thousands of movie choices.</a:t>
            </a:r>
          </a:p>
          <a:p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Business objectives</a:t>
            </a:r>
          </a:p>
          <a:p>
            <a:pPr marL="0" indent="0">
              <a:buNone/>
            </a:pPr>
            <a:r>
              <a:rPr lang="en-US" sz="4400" dirty="0"/>
              <a:t>Build a Recommendation system that:</a:t>
            </a:r>
          </a:p>
          <a:p>
            <a:pPr marL="0" indent="0">
              <a:buNone/>
            </a:pPr>
            <a:r>
              <a:rPr lang="en-US" sz="4400" dirty="0"/>
              <a:t>- Improves user engagement</a:t>
            </a:r>
          </a:p>
          <a:p>
            <a:pPr marL="0" indent="0">
              <a:buNone/>
            </a:pPr>
            <a:r>
              <a:rPr lang="en-US" sz="4400" dirty="0"/>
              <a:t>- Personalizes user experience</a:t>
            </a:r>
          </a:p>
          <a:p>
            <a:pPr marL="0" indent="0">
              <a:buNone/>
            </a:pPr>
            <a:r>
              <a:rPr lang="en-US" sz="4400" dirty="0"/>
              <a:t>- Increases watch time</a:t>
            </a:r>
          </a:p>
          <a:p>
            <a:pPr marL="0" indent="0">
              <a:buNone/>
            </a:pPr>
            <a:r>
              <a:rPr lang="en-US" sz="4400" dirty="0"/>
              <a:t>- Reduces search effort</a:t>
            </a:r>
          </a:p>
          <a:p>
            <a:pPr>
              <a:buFontTx/>
              <a:buChar char="-"/>
            </a:pPr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Success Criteria</a:t>
            </a:r>
          </a:p>
          <a:p>
            <a:pPr marL="0" indent="0">
              <a:buNone/>
            </a:pPr>
            <a:r>
              <a:rPr lang="en-US" sz="4400" dirty="0"/>
              <a:t>The recommendation system will be considered successful if it achieves low RMSE and MAE values while maintaining high Precision@10 and Recall@10 scores.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1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EB38-70FC-63BD-F5FF-1A4DB092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b="1" dirty="0"/>
              <a:t>DATA UNDERSTANDING</a:t>
            </a:r>
            <a:br>
              <a:rPr lang="en-US" b="1" dirty="0"/>
            </a:br>
            <a:r>
              <a:rPr lang="en-US" b="1" dirty="0"/>
              <a:t>(EDA)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7960D-C5BD-88FE-87B5-5C72F1CB4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Ratings distribution histogram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2CB47-25A5-B1A5-6088-BB934A419B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Most ratings fall between 3 and 5 stars, indicating that users generally provide positive feedback.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D9A35-AA5B-4C45-013C-8E8D52620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FE873E-7CAC-0481-58A9-66554D03470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180" y="2658533"/>
            <a:ext cx="4243965" cy="321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27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D941-426E-7AC2-0D6D-E215BAD5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Top user leaderboard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66D00-C096-CD89-C638-B5A682B79F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small number of users contribute a disproportionately large number of ratings. These users provide valuable information for recommendation algorithm.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657B22-EB08-9AC6-784F-A47072A126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560320"/>
            <a:ext cx="4718050" cy="331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49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3AD9-5D70-F9A2-C821-65390676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Top genres by ratings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E8CF-38DD-E5C3-6A15-F570EDE0B3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genres consistently receive higher ratings, indicating stronger audience preference.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0F03BD9-0879-ACA1-A9B8-1002694D61C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64055"/>
            <a:ext cx="4718050" cy="310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3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44A4-05EF-645F-2725-B02DF76E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Movie genre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026FA-68EC-33D8-B1E9-600E249F53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Genres like Drama, Comedy </a:t>
            </a:r>
            <a:r>
              <a:rPr lang="en-US" dirty="0" err="1"/>
              <a:t>ususally</a:t>
            </a:r>
            <a:r>
              <a:rPr lang="en-US" dirty="0"/>
              <a:t> dominate </a:t>
            </a:r>
            <a:r>
              <a:rPr lang="en-US" dirty="0" err="1"/>
              <a:t>MovieLens</a:t>
            </a:r>
            <a:r>
              <a:rPr lang="en-US" dirty="0"/>
              <a:t> indicating huge audience. Western, IMAX, Film-Noir have a low audience hence they are not highly recommended.</a:t>
            </a:r>
          </a:p>
          <a:p>
            <a:r>
              <a:rPr lang="en-US" dirty="0"/>
              <a:t>Most users rate only a few movies while a small group of highly active users contributes many ratings.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BFF553-46F6-3376-2385-BB0696FC380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471057"/>
            <a:ext cx="4718050" cy="339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41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11D0-0756-654B-6D79-E8163BE6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/>
              <a:t>Wordcloud</a:t>
            </a:r>
            <a:r>
              <a:rPr lang="en-US" sz="3200" b="1" dirty="0"/>
              <a:t> of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720F-1C97-8FB3-8C61-5AA76502F3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Larger words = more common tags. This provides insight into user perceptions.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9F950ED-3BA0-F160-00C4-AC8C78DB982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560320"/>
            <a:ext cx="4718050" cy="331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31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B933-E483-33F0-98F5-A1DA06B0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User activity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57E4-4CB7-93C7-32AE-856847BB98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median activity</a:t>
            </a:r>
          </a:p>
          <a:p>
            <a:r>
              <a:rPr lang="en-US" dirty="0"/>
              <a:t>Outliers This means that most users rate few movies and some users rate many.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ED93EEC-C53F-149C-76CD-8185775D41A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1" y="2560638"/>
            <a:ext cx="4190998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80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1AF0-8546-438B-E38B-C90E3793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Rating timeline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BAD7-4575-184E-6025-41020665B8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rating timeline trend illustrates how user engagement changed over time. An increasing number of ratings indicates growing platform activity and user participation. </a:t>
            </a:r>
          </a:p>
          <a:p>
            <a:r>
              <a:rPr lang="en-US" dirty="0"/>
              <a:t>This suggests that the recommendation system has access to a richer historical dataset for learning user preferences.</a:t>
            </a:r>
          </a:p>
          <a:p>
            <a:r>
              <a:rPr lang="en-US" dirty="0"/>
              <a:t> A decline in ratings would indicate reduced engagement and potentially less reliable recommendation performance.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481D8E0-5FA6-E733-B989-1C42E871EB0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18541"/>
            <a:ext cx="4718050" cy="319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80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2E2E-C480-46AF-54D4-CE8271A3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80CB-4C0D-FCAC-2097-767C25CC8C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shows the relationship among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MovieId</a:t>
            </a:r>
            <a:r>
              <a:rPr lang="en-US" dirty="0"/>
              <a:t>, and Ratings.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297A03E-2046-343F-C436-D057F8ADD9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877" y="2615606"/>
            <a:ext cx="4431746" cy="32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25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C6A8-ABD2-EA52-B46F-20930F01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dirty="0"/>
              <a:t>3. Modelling</a:t>
            </a:r>
            <a:br>
              <a:rPr lang="en-US" sz="6600" b="1" dirty="0"/>
            </a:br>
            <a:r>
              <a:rPr lang="en-US" sz="2700" b="1" dirty="0"/>
              <a:t>User-Based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972-6435-DE5F-74FE-B1D4A3EBE8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This shows the similarity scores between users based on their historical ratings. Darker regions represent users with highly similar movie preferences, while lighter regions indicate users with dissimilar tastes.</a:t>
            </a:r>
          </a:p>
          <a:p>
            <a:r>
              <a:rPr lang="en-US" dirty="0"/>
              <a:t>Presence of clusters suggests that groups of users share common interests, making user-based collaborative filtering suitable for generating personalized </a:t>
            </a:r>
            <a:r>
              <a:rPr lang="en-US" dirty="0" err="1"/>
              <a:t>recommenndations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C1B663B-9846-EA58-B394-4BDF2ABC4E6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300" y="2560638"/>
            <a:ext cx="3776899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00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0FD0-C547-1E78-E9F7-C17B70BC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Item-Based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9455-AD7D-4983-9469-ABD1321303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shows how similar movies are based on user rating </a:t>
            </a:r>
            <a:r>
              <a:rPr lang="en-US" dirty="0" err="1"/>
              <a:t>behaviour</a:t>
            </a:r>
            <a:r>
              <a:rPr lang="en-US" dirty="0"/>
              <a:t>. Movies with high similarity scores tend to be liked by the same users and therefore form natural recommendation clusters.</a:t>
            </a:r>
          </a:p>
          <a:p>
            <a:r>
              <a:rPr lang="en-US" dirty="0"/>
              <a:t>This visualization supports the use of item-based collaborative filtering because similar movies can be recommended to users who enjoyed related content.</a:t>
            </a:r>
          </a:p>
          <a:p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456A44F-902F-9321-64CF-098353307A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300" y="2560638"/>
            <a:ext cx="3776899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55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0D87-8DBA-7E95-4771-D51C3879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Matrix Factorization (SVD)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7D9B-1E6E-D835-3F5E-69874412C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PCA projection of SVD latent factors provides a two-dimensional representation of the hidden features learned by the matrix factorization model.</a:t>
            </a:r>
          </a:p>
          <a:p>
            <a:r>
              <a:rPr lang="en-US" dirty="0"/>
              <a:t>Movies positioned close together share similar </a:t>
            </a:r>
            <a:r>
              <a:rPr lang="en-US" dirty="0" err="1"/>
              <a:t>latennt</a:t>
            </a:r>
            <a:r>
              <a:rPr lang="en-US" dirty="0"/>
              <a:t> characteristics and appeal to similar user groups.</a:t>
            </a:r>
          </a:p>
          <a:p>
            <a:r>
              <a:rPr lang="en-US" dirty="0"/>
              <a:t>This demonstrates that SVD successfully captures underlying preference patterns that are not directly observable in movie genres or ratings alone.</a:t>
            </a:r>
          </a:p>
          <a:p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32B5E52-171E-423B-D90A-C56F31E1D5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76033"/>
            <a:ext cx="4718050" cy="307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725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8191-BF87-9DA7-DE61-F203AEB6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4. EVALUATION</a:t>
            </a:r>
            <a:br>
              <a:rPr lang="en-US" dirty="0"/>
            </a:br>
            <a:r>
              <a:rPr lang="en-US" sz="3600" b="1" dirty="0"/>
              <a:t>RMSE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A7F75-8690-BFED-A817-B139A2807A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 average, SVD's predictions differ from actual user ratings by approximately 0.88 rating points, while User-Based and Item-Based Collaborative Filtering differ by approximately 0.98 rating points.</a:t>
            </a:r>
          </a:p>
          <a:p>
            <a:r>
              <a:rPr lang="en-US" dirty="0"/>
              <a:t>SVD achieved the lowest RMSE and therefore provided the most accurate rating predictions among the evaluated models.</a:t>
            </a:r>
          </a:p>
          <a:p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7A4B36F-8637-7B2F-4679-C7D7C2E97E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35012"/>
            <a:ext cx="4718050" cy="316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053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68FF-524A-CEDA-4EF5-038DEABF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MAE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B6731-3C69-3E2C-478D-14F51B414C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SVD model misses the true rating by approximately 0.68 stars on average, whereas User-Based Collaborative Filtering misses by approximately 0.76 stars.</a:t>
            </a:r>
          </a:p>
          <a:p>
            <a:r>
              <a:rPr lang="en-US" dirty="0"/>
              <a:t>The lower MAE obtained by SVD confirms that it consistently produces more accurate predictions than the collaborative filtering approaches.</a:t>
            </a:r>
          </a:p>
          <a:p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CEF038-1742-0422-6C31-2AA3E06B2A8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35012"/>
            <a:ext cx="4718050" cy="316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96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DF4-3804-9A9A-0E68-FD875360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Precision@10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60A1E-CBEC-B4CC-148B-293641CDF4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 user CF Approximately 66% of the movies recommended by the User-Based Collaborative Filtering model are relevant. About 6–7 movies out of every 10 recommendations are relevant.</a:t>
            </a:r>
          </a:p>
          <a:p>
            <a:r>
              <a:rPr lang="en-US" dirty="0"/>
              <a:t>In SVD, Approximately 59% of the recommended movies are relevant. About 6 out of every 10 recommendations are relevant.</a:t>
            </a:r>
          </a:p>
          <a:p>
            <a:r>
              <a:rPr lang="en-US" dirty="0"/>
              <a:t>In Item CF, Only about 31% of recommended movies are relevant. Roughly 3 out of every 10 recommendations are useful.</a:t>
            </a:r>
          </a:p>
          <a:p>
            <a:r>
              <a:rPr lang="en-US" dirty="0"/>
              <a:t>Although SVD had the best RMSE and MAE, User CF achieved the highest Precision@10.</a:t>
            </a:r>
          </a:p>
          <a:p>
            <a:r>
              <a:rPr lang="en-US" dirty="0"/>
              <a:t>This means:</a:t>
            </a:r>
          </a:p>
          <a:p>
            <a:r>
              <a:rPr lang="en-US" dirty="0"/>
              <a:t>User-Based Collaborative Filtering is better at placing relevant movies in the recommendation list, even though SVD predicts ratings more accurately overall.</a:t>
            </a:r>
          </a:p>
          <a:p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910A200E-F595-426A-7E48-774760A25EC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844" y="2560638"/>
            <a:ext cx="4595811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170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B89F-BED1-F1B0-ABEC-EA15704B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Recall@10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5843B-C3CD-C8E6-BC0D-3C41131C32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Recall@10 measures:</a:t>
            </a:r>
          </a:p>
          <a:p>
            <a:r>
              <a:rPr lang="en-US" dirty="0"/>
              <a:t>How many of all relevant movies were successfully retrieved by the recommender</a:t>
            </a:r>
          </a:p>
          <a:p>
            <a:r>
              <a:rPr lang="en-US" dirty="0"/>
              <a:t>The SVD model successfully retrieved approximately 28% of all relevant movies available for users.</a:t>
            </a:r>
          </a:p>
          <a:p>
            <a:pPr marL="0" indent="0">
              <a:buNone/>
            </a:pPr>
            <a:r>
              <a:rPr lang="en-US" dirty="0"/>
              <a:t>The recall is lower than Precision is because a Recommender can:</a:t>
            </a:r>
          </a:p>
          <a:p>
            <a:r>
              <a:rPr lang="en-US" dirty="0"/>
              <a:t>Recommend only highly confident movies</a:t>
            </a:r>
          </a:p>
          <a:p>
            <a:r>
              <a:rPr lang="en-US" dirty="0"/>
              <a:t>Precision increases</a:t>
            </a:r>
          </a:p>
          <a:p>
            <a:r>
              <a:rPr lang="en-US" dirty="0"/>
              <a:t>Recall decreases</a:t>
            </a:r>
          </a:p>
          <a:p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7A7F7D4-07E3-80A2-C863-E2AAD0B3CE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25" y="2560638"/>
            <a:ext cx="4667249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15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B529-F9E7-416D-47A0-E11B0976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Model performance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34D61-803D-0C7A-9B34-329353B85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performance dashboard provides consolidated comparisons of all recommendation models.</a:t>
            </a:r>
          </a:p>
          <a:p>
            <a:r>
              <a:rPr lang="en-US" dirty="0"/>
              <a:t>It enables direct identification of the strongest model by </a:t>
            </a:r>
            <a:r>
              <a:rPr lang="en-US" dirty="0" err="1"/>
              <a:t>simultaniously</a:t>
            </a:r>
            <a:r>
              <a:rPr lang="en-US" dirty="0"/>
              <a:t> examining prediction accuracy and recommendation quality.</a:t>
            </a:r>
          </a:p>
          <a:p>
            <a:r>
              <a:rPr lang="en-US" dirty="0"/>
              <a:t>This shows that SVD consistently achieves lower prediction errors while maintaining competitive recommendation relevance, making it the most balanced model for deployment.</a:t>
            </a:r>
          </a:p>
          <a:p>
            <a:endParaRPr lang="en-US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0290863-66A1-5546-BEBA-D2D1FD97DFF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638695"/>
            <a:ext cx="4718050" cy="315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601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0F7E-03C5-4922-6484-6A667604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4A52-0258-8A15-887B-21E7409E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500" dirty="0"/>
              <a:t>EDA revealed that user ratings are generally positive, with most ratings concentrated between 3 and 5 stars.</a:t>
            </a:r>
          </a:p>
          <a:p>
            <a:r>
              <a:rPr lang="en-US" sz="2500" dirty="0"/>
              <a:t>User-item interaction matrix was highly sparse, indicating that users rate only a small fraction of the available movies, which is a common challenge in recommendation systems.</a:t>
            </a:r>
          </a:p>
          <a:p>
            <a:r>
              <a:rPr lang="en-US" sz="2500" dirty="0"/>
              <a:t>Popularity-based recommendations provide simple recommendations based on highly rated and frequently rated movies but lacked personalization.</a:t>
            </a:r>
          </a:p>
          <a:p>
            <a:r>
              <a:rPr lang="en-US" sz="2500" dirty="0"/>
              <a:t>Content-based filtering successfully recommended movies with similar genres but was limited with available movie metadata.</a:t>
            </a:r>
          </a:p>
          <a:p>
            <a:r>
              <a:rPr lang="en-US" sz="2500" dirty="0"/>
              <a:t>User-based and Item-based collaborative filtering leveraged historical rating </a:t>
            </a:r>
            <a:r>
              <a:rPr lang="en-US" sz="2500" dirty="0" err="1"/>
              <a:t>behaviour</a:t>
            </a:r>
            <a:r>
              <a:rPr lang="en-US" sz="2500" dirty="0"/>
              <a:t> to generate personalized recommendations.</a:t>
            </a:r>
          </a:p>
          <a:p>
            <a:r>
              <a:rPr lang="en-US" sz="2500" dirty="0"/>
              <a:t>SVD achieved the best prediction performance with an RMSE of 0.88 and MAE of 0.67, indicating the lowest prediction errors among evaluated models.</a:t>
            </a:r>
          </a:p>
          <a:p>
            <a:r>
              <a:rPr lang="en-US" sz="2500" dirty="0"/>
              <a:t>User-based collaborative filtering achieved higher precision@10 (0.65) demonstrating strong recommendation quality.</a:t>
            </a:r>
          </a:p>
          <a:p>
            <a:r>
              <a:rPr lang="en-US" sz="2500" dirty="0"/>
              <a:t>Based on overall evaluation </a:t>
            </a:r>
            <a:r>
              <a:rPr lang="en-US" sz="2500" dirty="0" err="1"/>
              <a:t>resaults</a:t>
            </a:r>
            <a:r>
              <a:rPr lang="en-US" sz="2500" dirty="0"/>
              <a:t>, SVD was selected as the most suitable recommendation model for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38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991B-D3ED-7C54-79A2-6EAC5944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C4CD0-6EEE-795E-3E36-FCD17EFF3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Deploy the SVD recommendation model as the primary recommendation engine because it achieved the best overall performance across RMSE,MAE,Precision@10 and Recall.</a:t>
            </a:r>
          </a:p>
          <a:p>
            <a:r>
              <a:rPr lang="en-US" dirty="0"/>
              <a:t>Develop a hybrid recommendation system that combines SVD and Content-based filtering to improve recommendation quality.</a:t>
            </a:r>
          </a:p>
          <a:p>
            <a:r>
              <a:rPr lang="en-US" dirty="0"/>
              <a:t>Periodically retrain the recommendation model using newly collected rating to ensure recommendations remain relevant and adapt to changing user preference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</TotalTime>
  <Words>1065</Words>
  <Application>Microsoft Office PowerPoint</Application>
  <PresentationFormat>Widescreen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MOVIE RECOMMENDATION SYSTEM USING CRISP-DM</vt:lpstr>
      <vt:lpstr>1. BUSINESS UNDERSTANDING </vt:lpstr>
      <vt:lpstr>2. DATA UNDERSTANDING (EDA)</vt:lpstr>
      <vt:lpstr>Top user leaderboard</vt:lpstr>
      <vt:lpstr>Top genres by ratings</vt:lpstr>
      <vt:lpstr>Movie genre distribution</vt:lpstr>
      <vt:lpstr>Wordcloud of Tags</vt:lpstr>
      <vt:lpstr>User activity distribution</vt:lpstr>
      <vt:lpstr>Rating timeline trends</vt:lpstr>
      <vt:lpstr>Correlation Heatmap</vt:lpstr>
      <vt:lpstr>3. Modelling User-Based collaborative filtering</vt:lpstr>
      <vt:lpstr>Item-Based collaborative filtering</vt:lpstr>
      <vt:lpstr>Matrix Factorization (SVD)</vt:lpstr>
      <vt:lpstr>4. EVALUATION RMSE COMPARISON</vt:lpstr>
      <vt:lpstr>MAE Comparison</vt:lpstr>
      <vt:lpstr>Precision@10 Comparison</vt:lpstr>
      <vt:lpstr>Recall@10 Comparison</vt:lpstr>
      <vt:lpstr>Model performance dashboard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Njoroge</dc:creator>
  <cp:lastModifiedBy>Patrick Njoroge</cp:lastModifiedBy>
  <cp:revision>1</cp:revision>
  <dcterms:created xsi:type="dcterms:W3CDTF">2026-06-14T05:37:12Z</dcterms:created>
  <dcterms:modified xsi:type="dcterms:W3CDTF">2026-06-14T06:09:42Z</dcterms:modified>
</cp:coreProperties>
</file>